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42A49-8F2A-487D-97A3-C617EB469655}" v="38" dt="2026-04-08T14:54:26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19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6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11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4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7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5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9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8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1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1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F0A2AFF-755A-4F85-A630-109F3F2CA8CB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CECF9A7-A4DF-4059-81A9-B318AC4A61B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41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E4F40C-41F5-3253-F457-67D5E1D3882A}"/>
              </a:ext>
            </a:extLst>
          </p:cNvPr>
          <p:cNvSpPr txBox="1"/>
          <p:nvPr/>
        </p:nvSpPr>
        <p:spPr>
          <a:xfrm>
            <a:off x="1524000" y="816077"/>
            <a:ext cx="86917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NYPD Shooting Incident Analysis Using Data Analytics</a:t>
            </a:r>
          </a:p>
          <a:p>
            <a:pPr algn="ctr"/>
            <a:r>
              <a:rPr lang="en-US" sz="4000" b="1" dirty="0"/>
              <a:t>Submitted by: </a:t>
            </a:r>
            <a:r>
              <a:rPr lang="en-US" sz="4000" b="1" i="1" dirty="0"/>
              <a:t>Sahana </a:t>
            </a:r>
            <a:r>
              <a:rPr lang="en-US" sz="4000" b="1" i="1" dirty="0" err="1"/>
              <a:t>Timmappa</a:t>
            </a:r>
            <a:r>
              <a:rPr lang="en-US" sz="4000" b="1" i="1" dirty="0"/>
              <a:t> Naik</a:t>
            </a:r>
            <a:endParaRPr lang="en-US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D523B-5F93-F198-786A-C5126A6E8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99" y="3788299"/>
            <a:ext cx="6274398" cy="176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95B71-3D7E-22C7-3CAB-679DFA699470}"/>
              </a:ext>
            </a:extLst>
          </p:cNvPr>
          <p:cNvSpPr txBox="1"/>
          <p:nvPr/>
        </p:nvSpPr>
        <p:spPr>
          <a:xfrm>
            <a:off x="1396181" y="914399"/>
            <a:ext cx="736436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Introduction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Problem Statement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Project Objectives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Dataset Description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Data Preprocessing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Exploratory Data Analysis (EDA)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Machine Learning Models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Model Evaluation &amp; </a:t>
            </a:r>
            <a:r>
              <a:rPr lang="en-US" altLang="en-US" sz="2800" dirty="0" err="1"/>
              <a:t>Comparision</a:t>
            </a:r>
            <a:endParaRPr lang="en-US" alt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Dashboard &amp; Visualizations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Results &amp; Insights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Conclusion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C4D95-7A91-5F74-025A-410951053502}"/>
              </a:ext>
            </a:extLst>
          </p:cNvPr>
          <p:cNvSpPr txBox="1"/>
          <p:nvPr/>
        </p:nvSpPr>
        <p:spPr>
          <a:xfrm>
            <a:off x="963562" y="2680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Agenda: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938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57B8A-00A0-B067-6272-B5B601010EEB}"/>
              </a:ext>
            </a:extLst>
          </p:cNvPr>
          <p:cNvSpPr txBox="1"/>
          <p:nvPr/>
        </p:nvSpPr>
        <p:spPr>
          <a:xfrm>
            <a:off x="540775" y="874455"/>
            <a:ext cx="98715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Shooting incidents are a serious concern in urban areas.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Analyzing crime data helps in understanding patterns and trends.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project uses data analysis techniques to study NYPD shooting incidents and derive meaningful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4F11D-52FB-457B-1040-2A59289B8B10}"/>
              </a:ext>
            </a:extLst>
          </p:cNvPr>
          <p:cNvSpPr txBox="1"/>
          <p:nvPr/>
        </p:nvSpPr>
        <p:spPr>
          <a:xfrm>
            <a:off x="540775" y="2896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Introduction</a:t>
            </a:r>
            <a:r>
              <a:rPr lang="en-US" sz="3200" b="1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8F9577-C036-B1B2-A914-F34E3E56A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846" y="3428999"/>
            <a:ext cx="5002152" cy="290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1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A4C935-61DD-5C38-AD4F-610DA77FB912}"/>
              </a:ext>
            </a:extLst>
          </p:cNvPr>
          <p:cNvSpPr txBox="1"/>
          <p:nvPr/>
        </p:nvSpPr>
        <p:spPr>
          <a:xfrm>
            <a:off x="424542" y="496422"/>
            <a:ext cx="105080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Understanding crime patterns is difficult without proper data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Authorities need insights to identify high-risk areas and take preventive measures.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aims to analyze shooting incidents to support better decision-making.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92898-40AF-56A3-9E26-F70CB41AB978}"/>
              </a:ext>
            </a:extLst>
          </p:cNvPr>
          <p:cNvSpPr txBox="1"/>
          <p:nvPr/>
        </p:nvSpPr>
        <p:spPr>
          <a:xfrm>
            <a:off x="334108" y="87612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Problem Statement: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75114-24F5-D87D-AAA8-E35106B51515}"/>
              </a:ext>
            </a:extLst>
          </p:cNvPr>
          <p:cNvSpPr txBox="1"/>
          <p:nvPr/>
        </p:nvSpPr>
        <p:spPr>
          <a:xfrm>
            <a:off x="424542" y="3963963"/>
            <a:ext cx="86792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 Analyze shooting incident trends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Identify high-risk locations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Study victim and perpetrator demographics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Compare murder and non-murder incidents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Create an interactive dashboard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28070-B0F5-27E7-0DD2-19282D089F50}"/>
              </a:ext>
            </a:extLst>
          </p:cNvPr>
          <p:cNvSpPr txBox="1"/>
          <p:nvPr/>
        </p:nvSpPr>
        <p:spPr>
          <a:xfrm>
            <a:off x="304612" y="3394617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Project Objectives:</a:t>
            </a:r>
          </a:p>
        </p:txBody>
      </p:sp>
    </p:spTree>
    <p:extLst>
      <p:ext uri="{BB962C8B-B14F-4D97-AF65-F5344CB8AC3E}">
        <p14:creationId xmlns:p14="http://schemas.microsoft.com/office/powerpoint/2010/main" val="257689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E2D7A-5079-A23C-7E72-8781F2D03E46}"/>
              </a:ext>
            </a:extLst>
          </p:cNvPr>
          <p:cNvSpPr txBox="1"/>
          <p:nvPr/>
        </p:nvSpPr>
        <p:spPr>
          <a:xfrm>
            <a:off x="412957" y="985304"/>
            <a:ext cx="50734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dataset contains historical shooting incident data from NYPD.</a:t>
            </a:r>
          </a:p>
          <a:p>
            <a:pPr>
              <a:buNone/>
            </a:pPr>
            <a:br>
              <a:rPr lang="en-US" sz="2800" dirty="0"/>
            </a:br>
            <a:r>
              <a:rPr lang="en-US" sz="2800" dirty="0"/>
              <a:t>It includes: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Year, Date and time of incident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Borough and location details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Victim age, gender, and race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Perpetrator details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Murder flag (fatal or non-fatal)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76A03-6EDC-3E30-E398-7AB6CF744C4A}"/>
              </a:ext>
            </a:extLst>
          </p:cNvPr>
          <p:cNvSpPr txBox="1"/>
          <p:nvPr/>
        </p:nvSpPr>
        <p:spPr>
          <a:xfrm>
            <a:off x="275304" y="373628"/>
            <a:ext cx="477847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/>
              <a:t>Dataset Description: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D2B7E-65CA-0C8E-8236-AD90A027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0"/>
            <a:ext cx="6705599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6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B53EE-16FA-52C0-3F3B-889B76935C72}"/>
              </a:ext>
            </a:extLst>
          </p:cNvPr>
          <p:cNvSpPr txBox="1"/>
          <p:nvPr/>
        </p:nvSpPr>
        <p:spPr>
          <a:xfrm>
            <a:off x="383457" y="734480"/>
            <a:ext cx="109826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 preprocessing is performed to clean and prepare the dataset: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Missing values were handled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Date and time columns were formatted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Duplicate records were removed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Irrelevant columns were filtered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Clean dataset prepared for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15BF1-DE8D-3D8D-4E0A-6E5D2CB690E7}"/>
              </a:ext>
            </a:extLst>
          </p:cNvPr>
          <p:cNvSpPr txBox="1"/>
          <p:nvPr/>
        </p:nvSpPr>
        <p:spPr>
          <a:xfrm>
            <a:off x="226141" y="199225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/>
              <a:t>Data Preprocessing: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92F60-FC51-4A4D-F88C-71CC84EAE636}"/>
              </a:ext>
            </a:extLst>
          </p:cNvPr>
          <p:cNvSpPr txBox="1"/>
          <p:nvPr/>
        </p:nvSpPr>
        <p:spPr>
          <a:xfrm>
            <a:off x="226141" y="3434093"/>
            <a:ext cx="695140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/>
              <a:t>Exploratory Data Analysis (EDA):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3EFC2A0-942C-75C5-B5DB-7DF3BACD3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57" y="4233538"/>
            <a:ext cx="7388561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of incidents analyzed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 over time identified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 between variables explored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influencing factors discovered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1E3A80-1074-6DCC-FFD6-D3207ECA15D3}"/>
              </a:ext>
            </a:extLst>
          </p:cNvPr>
          <p:cNvSpPr txBox="1"/>
          <p:nvPr/>
        </p:nvSpPr>
        <p:spPr>
          <a:xfrm>
            <a:off x="383457" y="4071603"/>
            <a:ext cx="11602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EDA helps in understanding patterns and relationships in data.</a:t>
            </a:r>
          </a:p>
        </p:txBody>
      </p:sp>
    </p:spTree>
    <p:extLst>
      <p:ext uri="{BB962C8B-B14F-4D97-AF65-F5344CB8AC3E}">
        <p14:creationId xmlns:p14="http://schemas.microsoft.com/office/powerpoint/2010/main" val="132703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0EA75-208B-80A0-BCCF-4F105FF13EDF}"/>
              </a:ext>
            </a:extLst>
          </p:cNvPr>
          <p:cNvSpPr txBox="1"/>
          <p:nvPr/>
        </p:nvSpPr>
        <p:spPr>
          <a:xfrm>
            <a:off x="373626" y="1299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Machine Learning Models: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1AF65-973B-28F8-1EFA-8CF41BE3E88E}"/>
              </a:ext>
            </a:extLst>
          </p:cNvPr>
          <p:cNvSpPr txBox="1"/>
          <p:nvPr/>
        </p:nvSpPr>
        <p:spPr>
          <a:xfrm>
            <a:off x="727587" y="7660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1 – Logistic Regression: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6AF66-98EA-03E8-03DC-DAB06BAC9F6E}"/>
              </a:ext>
            </a:extLst>
          </p:cNvPr>
          <p:cNvSpPr txBox="1"/>
          <p:nvPr/>
        </p:nvSpPr>
        <p:spPr>
          <a:xfrm>
            <a:off x="1042219" y="1350788"/>
            <a:ext cx="1085481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Logistic Regression is a classification algorithm used to predict categorical outcomes.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Used to classify incidents as </a:t>
            </a:r>
            <a:r>
              <a:rPr lang="en-US" sz="2700" b="1" dirty="0"/>
              <a:t>Murder or Non-Murder</a:t>
            </a:r>
            <a:r>
              <a:rPr lang="en-US" sz="27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Works based on probability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Simple and easy to interpret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8D9C8-2AD9-882E-5C07-E7E1F2956C59}"/>
              </a:ext>
            </a:extLst>
          </p:cNvPr>
          <p:cNvSpPr txBox="1"/>
          <p:nvPr/>
        </p:nvSpPr>
        <p:spPr>
          <a:xfrm>
            <a:off x="727587" y="36672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2 – Decision Tree: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5BE20-1599-3E3E-EF5E-CA59B9061127}"/>
              </a:ext>
            </a:extLst>
          </p:cNvPr>
          <p:cNvSpPr txBox="1"/>
          <p:nvPr/>
        </p:nvSpPr>
        <p:spPr>
          <a:xfrm>
            <a:off x="1042219" y="4252006"/>
            <a:ext cx="10137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Decision Tree is a supervised learning algorithm used for classification.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Splits data into branches based on conditions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Easy to understand and visualize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Can handle both numerical and categorical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E6FBDD-B596-6A2B-59E7-ABF8D70D8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28" y="2566666"/>
            <a:ext cx="3560584" cy="16460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8E7C5C-4C02-3F24-ABD9-6D977F6E4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839" y="4797453"/>
            <a:ext cx="2433623" cy="151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3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AF782B-7669-AF68-1917-E02E0F15A2A2}"/>
              </a:ext>
            </a:extLst>
          </p:cNvPr>
          <p:cNvSpPr txBox="1"/>
          <p:nvPr/>
        </p:nvSpPr>
        <p:spPr>
          <a:xfrm>
            <a:off x="226142" y="1951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3 – Random Forest: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9A7A40-522C-C311-C3E3-969E376196F1}"/>
              </a:ext>
            </a:extLst>
          </p:cNvPr>
          <p:cNvSpPr txBox="1"/>
          <p:nvPr/>
        </p:nvSpPr>
        <p:spPr>
          <a:xfrm>
            <a:off x="511277" y="727864"/>
            <a:ext cx="77084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Random Forest is an ensemble learning method.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Combines multiple decision trees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Reduces overfitting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Provides higher accuracy compared to a single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C03E3-F314-38C0-DE5E-C3FB9BC5FF60}"/>
              </a:ext>
            </a:extLst>
          </p:cNvPr>
          <p:cNvSpPr txBox="1"/>
          <p:nvPr/>
        </p:nvSpPr>
        <p:spPr>
          <a:xfrm>
            <a:off x="226142" y="301488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4 – Gradient Boosting: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812CF-8735-ABB4-3B81-8A2EB0AF09E4}"/>
              </a:ext>
            </a:extLst>
          </p:cNvPr>
          <p:cNvSpPr txBox="1"/>
          <p:nvPr/>
        </p:nvSpPr>
        <p:spPr>
          <a:xfrm>
            <a:off x="511277" y="3599660"/>
            <a:ext cx="815094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Gradient Boosting improves model performance by correcting errors.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Builds models sequentially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Each model improves the previous one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Good for complex patterns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CD50E-9421-C12D-28B9-2B52883AA939}"/>
              </a:ext>
            </a:extLst>
          </p:cNvPr>
          <p:cNvSpPr txBox="1"/>
          <p:nvPr/>
        </p:nvSpPr>
        <p:spPr>
          <a:xfrm>
            <a:off x="7855975" y="30148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5 – </a:t>
            </a:r>
            <a:r>
              <a:rPr lang="en-US" sz="3200" b="1" dirty="0" err="1"/>
              <a:t>XGBoost</a:t>
            </a:r>
            <a:r>
              <a:rPr lang="en-US" sz="3200" b="1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A15B4-C24D-4B27-670D-EAD3EF308920}"/>
              </a:ext>
            </a:extLst>
          </p:cNvPr>
          <p:cNvSpPr txBox="1"/>
          <p:nvPr/>
        </p:nvSpPr>
        <p:spPr>
          <a:xfrm>
            <a:off x="8141112" y="3599659"/>
            <a:ext cx="41393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 err="1"/>
              <a:t>XGBoost</a:t>
            </a:r>
            <a:r>
              <a:rPr lang="en-US" sz="2700" dirty="0"/>
              <a:t> is an advanced boosting algorithm.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Faster and more efficient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Handles large datasets well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Provides high accuracy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A67241-63A8-9787-8E87-9811F4DA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502" y="186388"/>
            <a:ext cx="3750038" cy="18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5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18FB6-A62A-4368-1D09-62CAB3EEB01F}"/>
              </a:ext>
            </a:extLst>
          </p:cNvPr>
          <p:cNvSpPr txBox="1"/>
          <p:nvPr/>
        </p:nvSpPr>
        <p:spPr>
          <a:xfrm>
            <a:off x="560437" y="306947"/>
            <a:ext cx="796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6 – Support Vector Machine (SVM):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2608B-DB99-DAB3-1CA4-91096DD57561}"/>
              </a:ext>
            </a:extLst>
          </p:cNvPr>
          <p:cNvSpPr txBox="1"/>
          <p:nvPr/>
        </p:nvSpPr>
        <p:spPr>
          <a:xfrm>
            <a:off x="1071715" y="891722"/>
            <a:ext cx="657778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SVM is used for classification tasks.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Finds the optimal boundary between classes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Works well with high-dimensional data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Effective for complex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0E11C-A664-0A07-BA0A-377D2FF9799D}"/>
              </a:ext>
            </a:extLst>
          </p:cNvPr>
          <p:cNvSpPr txBox="1"/>
          <p:nvPr/>
        </p:nvSpPr>
        <p:spPr>
          <a:xfrm>
            <a:off x="589935" y="3393292"/>
            <a:ext cx="6912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7 – K-Nearest Neighbors (KNN)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A6621-BDE4-71C0-972D-B2796331B592}"/>
              </a:ext>
            </a:extLst>
          </p:cNvPr>
          <p:cNvSpPr txBox="1"/>
          <p:nvPr/>
        </p:nvSpPr>
        <p:spPr>
          <a:xfrm>
            <a:off x="1071715" y="399373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dirty="0"/>
              <a:t>KNN is a simple classification algorithm.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Classifies based on nearest data points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Easy to implement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dirty="0"/>
              <a:t>Performance depends on value of 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2310C6-F261-AFF9-0B43-DABFF005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7051" y="407282"/>
            <a:ext cx="2047517" cy="2690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08D05-589A-BC37-B8DE-FD47CE863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81" y="3267294"/>
            <a:ext cx="2224431" cy="285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46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8C1F8-2E70-4B54-7F7B-D47084054D85}"/>
              </a:ext>
            </a:extLst>
          </p:cNvPr>
          <p:cNvSpPr txBox="1"/>
          <p:nvPr/>
        </p:nvSpPr>
        <p:spPr>
          <a:xfrm>
            <a:off x="521110" y="38885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Evaluation: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64CA7-FFCE-EA35-0206-2DE3A21EFDFE}"/>
              </a:ext>
            </a:extLst>
          </p:cNvPr>
          <p:cNvSpPr txBox="1"/>
          <p:nvPr/>
        </p:nvSpPr>
        <p:spPr>
          <a:xfrm>
            <a:off x="1061884" y="9575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Metrics used: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5D83F91-8B82-733C-CF01-3F7E3A6D4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17" y="1277170"/>
            <a:ext cx="524059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 Score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89595-89A1-BA6D-F8DE-A04E23C32D82}"/>
              </a:ext>
            </a:extLst>
          </p:cNvPr>
          <p:cNvSpPr txBox="1"/>
          <p:nvPr/>
        </p:nvSpPr>
        <p:spPr>
          <a:xfrm>
            <a:off x="521110" y="32152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Comparison: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1B217-5A54-10FA-B53A-55D467B832AE}"/>
              </a:ext>
            </a:extLst>
          </p:cNvPr>
          <p:cNvSpPr txBox="1"/>
          <p:nvPr/>
        </p:nvSpPr>
        <p:spPr>
          <a:xfrm>
            <a:off x="521110" y="3868431"/>
            <a:ext cx="66367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Different models are compared based on performance metrics.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Some models provide better accuracy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/>
              <a:t>XGBoost</a:t>
            </a:r>
            <a:r>
              <a:rPr lang="en-US" sz="2400" dirty="0"/>
              <a:t> model perform better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Final model is selected based on best results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36142B-1DF7-1D3F-F0D7-C58F6D159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2315" y="531368"/>
            <a:ext cx="4513298" cy="23228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B50095-74C1-8B99-C5E6-551C43ED6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380" y="2932804"/>
            <a:ext cx="4661709" cy="334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2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897AB-1E8B-3F5F-CAAE-2B397DF12EAA}"/>
              </a:ext>
            </a:extLst>
          </p:cNvPr>
          <p:cNvSpPr txBox="1"/>
          <p:nvPr/>
        </p:nvSpPr>
        <p:spPr>
          <a:xfrm>
            <a:off x="373626" y="169296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/>
              <a:t>Model Result: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0EE58-203C-94BC-CAE0-AADEEB619CDC}"/>
              </a:ext>
            </a:extLst>
          </p:cNvPr>
          <p:cNvSpPr txBox="1"/>
          <p:nvPr/>
        </p:nvSpPr>
        <p:spPr>
          <a:xfrm>
            <a:off x="618000" y="619433"/>
            <a:ext cx="922265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700" dirty="0"/>
              <a:t>Among all models, </a:t>
            </a:r>
            <a:r>
              <a:rPr lang="en-US" sz="2700" b="1" dirty="0" err="1"/>
              <a:t>XGBoost</a:t>
            </a:r>
            <a:r>
              <a:rPr lang="en-US" sz="2700" b="1" dirty="0"/>
              <a:t> provided the best performance</a:t>
            </a:r>
            <a:r>
              <a:rPr lang="en-US" sz="27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700" dirty="0"/>
              <a:t>Achieved an accuracy of </a:t>
            </a:r>
            <a:r>
              <a:rPr lang="en-US" sz="2700" b="1" dirty="0"/>
              <a:t>80.83%</a:t>
            </a:r>
            <a:r>
              <a:rPr lang="en-US" sz="27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700" dirty="0"/>
              <a:t>Demonstrated strong performance in predicting </a:t>
            </a:r>
            <a:r>
              <a:rPr lang="en-US" sz="2700" b="1" dirty="0"/>
              <a:t>non-murder (False)</a:t>
            </a:r>
            <a:r>
              <a:rPr lang="en-US" sz="2700" dirty="0"/>
              <a:t> cases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700" dirty="0"/>
              <a:t>Precision for non-murder cases is high, indicating reliable predictions </a:t>
            </a:r>
          </a:p>
          <a:p>
            <a:pPr>
              <a:lnSpc>
                <a:spcPct val="150000"/>
              </a:lnSpc>
              <a:buNone/>
            </a:pPr>
            <a:r>
              <a:rPr lang="en-US" sz="2700" dirty="0"/>
              <a:t>However: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700" dirty="0"/>
              <a:t>The model shows lower performance for </a:t>
            </a:r>
            <a:r>
              <a:rPr lang="en-US" sz="2700" b="1" dirty="0"/>
              <a:t>murder (True)</a:t>
            </a:r>
            <a:r>
              <a:rPr lang="en-US" sz="2700" dirty="0"/>
              <a:t> cases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700" dirty="0"/>
              <a:t>Recall for murder cases is low, meaning some true cases are not detected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564AA-6618-7C70-AD71-5FD52EB90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224" y="2615380"/>
            <a:ext cx="2852786" cy="17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55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41C124-5DE1-C443-9743-E89C3A6ADD9F}"/>
              </a:ext>
            </a:extLst>
          </p:cNvPr>
          <p:cNvSpPr txBox="1"/>
          <p:nvPr/>
        </p:nvSpPr>
        <p:spPr>
          <a:xfrm>
            <a:off x="698090" y="19879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6F85A-BC3E-C192-E158-F0A3DE17CAB6}"/>
              </a:ext>
            </a:extLst>
          </p:cNvPr>
          <p:cNvSpPr txBox="1"/>
          <p:nvPr/>
        </p:nvSpPr>
        <p:spPr>
          <a:xfrm>
            <a:off x="1170038" y="783567"/>
            <a:ext cx="1023538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This project successfully analyzed NYPD shooting incident data using data analytics and machine learning techniques.</a:t>
            </a:r>
          </a:p>
          <a:p>
            <a:pPr>
              <a:buNone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Identified key patterns in time, location, and demographics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Built multiple machine learning models for classification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/>
              <a:t>XGBoost</a:t>
            </a:r>
            <a:r>
              <a:rPr lang="en-US" sz="2800" b="1" dirty="0"/>
              <a:t> achieved the best performance</a:t>
            </a:r>
            <a:r>
              <a:rPr lang="en-US" sz="2800" dirty="0"/>
              <a:t> with highest accuracy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Developed an interactive </a:t>
            </a:r>
            <a:r>
              <a:rPr lang="en-US" sz="2800" b="1" dirty="0"/>
              <a:t>Power BI dashboard</a:t>
            </a:r>
            <a:r>
              <a:rPr lang="en-US" sz="2800" dirty="0"/>
              <a:t> for better visualization 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Overall, the project provides meaningful insights that can help in understanding crime trends and support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331790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46D755-6291-4A35-F5E3-2719C24D15C6}"/>
              </a:ext>
            </a:extLst>
          </p:cNvPr>
          <p:cNvSpPr txBox="1"/>
          <p:nvPr/>
        </p:nvSpPr>
        <p:spPr>
          <a:xfrm>
            <a:off x="216309" y="5920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Future Scope: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C940BD-86B1-DF2F-118A-FEFED116D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5" y="1089898"/>
            <a:ext cx="753642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advanced machine learning techniques to improve prediction accuracy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data imbalance using techniques like SMOTE or resampling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real-time crime monitoring dashboards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additional data sources (weather, population, etc.)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web or mobile application for easy access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17144-8919-1E56-98C9-89FDACE08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16" y="1887794"/>
            <a:ext cx="4416815" cy="294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2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FB232E-77AE-ABB4-67E3-0F0D57105613}"/>
              </a:ext>
            </a:extLst>
          </p:cNvPr>
          <p:cNvSpPr txBox="1"/>
          <p:nvPr/>
        </p:nvSpPr>
        <p:spPr>
          <a:xfrm>
            <a:off x="3716594" y="27514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56354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699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Naik</dc:creator>
  <cp:lastModifiedBy>Sahana Naik</cp:lastModifiedBy>
  <cp:revision>2</cp:revision>
  <dcterms:created xsi:type="dcterms:W3CDTF">2026-04-08T12:17:50Z</dcterms:created>
  <dcterms:modified xsi:type="dcterms:W3CDTF">2026-04-08T16:44:35Z</dcterms:modified>
</cp:coreProperties>
</file>